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70" r:id="rId6"/>
    <p:sldId id="269" r:id="rId7"/>
    <p:sldId id="271" r:id="rId8"/>
    <p:sldId id="272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8E1A5-DF98-4D7F-AAA4-8C7107BFDE3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B96EF-B403-4998-AB30-876B106B1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86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73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9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49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9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82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58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64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81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14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0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9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1BDCD-9193-4860-B347-94AD08F8FD51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40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899" y="2132856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Feature Extraction and Price Prediction for Mobile Phones</a:t>
            </a:r>
            <a:endParaRPr lang="en-IN" sz="3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6569" y="3591069"/>
            <a:ext cx="7344816" cy="160884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Machine </a:t>
            </a:r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Learning for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Smartphone Price </a:t>
            </a:r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Prediction</a:t>
            </a:r>
          </a:p>
          <a:p>
            <a:endParaRPr lang="en-US" sz="2400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Project </a:t>
            </a:r>
            <a:r>
              <a:rPr lang="en-IN" sz="1600" b="1" dirty="0" smtClean="0">
                <a:solidFill>
                  <a:schemeClr val="tx2">
                    <a:lumMod val="75000"/>
                  </a:schemeClr>
                </a:solidFill>
              </a:rPr>
              <a:t>4 - Industry Dataset Analysis</a:t>
            </a:r>
            <a:endParaRPr lang="en-IN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897" y="1268760"/>
            <a:ext cx="720080" cy="72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3568" y="5181861"/>
            <a:ext cx="731591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tx2">
                    <a:lumMod val="75000"/>
                  </a:schemeClr>
                </a:solidFill>
              </a:rPr>
              <a:t>Presented By</a:t>
            </a: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</a:rPr>
              <a:t>:			      </a:t>
            </a:r>
            <a:r>
              <a:rPr lang="en-US" sz="17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</a:rPr>
              <a:t>             Data </a:t>
            </a:r>
            <a:r>
              <a:rPr lang="en-US" sz="1700" dirty="0">
                <a:solidFill>
                  <a:schemeClr val="tx2">
                    <a:lumMod val="75000"/>
                  </a:schemeClr>
                </a:solidFill>
              </a:rPr>
              <a:t>Analytics </a:t>
            </a:r>
            <a:endParaRPr lang="en-US" sz="1700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</a:rPr>
              <a:t>Bhawna Chouhan			                    Internship Project NextHikes</a:t>
            </a:r>
            <a:endParaRPr lang="en-US" sz="17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</a:rPr>
              <a:t>				                    July 2026	</a:t>
            </a:r>
            <a:endParaRPr lang="en-US" sz="17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23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61255"/>
            <a:ext cx="8712968" cy="996651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Project Overview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Project </a:t>
            </a:r>
            <a:r>
              <a:rPr lang="en-US" sz="1800" b="1" dirty="0" smtClean="0"/>
              <a:t>Summary</a:t>
            </a:r>
            <a:endParaRPr lang="en-US" sz="1800" b="1" dirty="0"/>
          </a:p>
          <a:p>
            <a:pPr>
              <a:lnSpc>
                <a:spcPct val="150000"/>
              </a:lnSpc>
            </a:pPr>
            <a:r>
              <a:rPr lang="en-US" sz="1600" dirty="0"/>
              <a:t>Predict smartphone prices using Machine Learning. 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Identify </a:t>
            </a:r>
            <a:r>
              <a:rPr lang="en-US" sz="1600" dirty="0"/>
              <a:t>the most influential smartphone features. 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Compare </a:t>
            </a:r>
            <a:r>
              <a:rPr lang="en-US" sz="1600" dirty="0"/>
              <a:t>Linear Regression and Random Forest models. 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Provide </a:t>
            </a:r>
            <a:r>
              <a:rPr lang="en-US" sz="1600" dirty="0"/>
              <a:t>business recommendations for pricing strategy.</a:t>
            </a:r>
          </a:p>
          <a:p>
            <a:endParaRPr lang="en-US" sz="1800" dirty="0" smtClean="0"/>
          </a:p>
          <a:p>
            <a:pPr marL="0" indent="0">
              <a:buNone/>
            </a:pPr>
            <a:r>
              <a:rPr lang="en-IN" sz="1800" dirty="0" smtClean="0"/>
              <a:t>	</a:t>
            </a:r>
            <a:endParaRPr lang="en-IN" sz="18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580112" y="1568960"/>
            <a:ext cx="31766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Project Workflow 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r>
              <a:rPr lang="en-US" dirty="0" smtClean="0"/>
              <a:t>1. Data </a:t>
            </a:r>
            <a:r>
              <a:rPr lang="en-US" dirty="0"/>
              <a:t>Collection</a:t>
            </a:r>
          </a:p>
          <a:p>
            <a:r>
              <a:rPr lang="en-US" dirty="0"/>
              <a:t>        ↓</a:t>
            </a:r>
          </a:p>
          <a:p>
            <a:r>
              <a:rPr lang="en-US" dirty="0" smtClean="0"/>
              <a:t>2. Data </a:t>
            </a:r>
            <a:r>
              <a:rPr lang="en-US" dirty="0"/>
              <a:t>Preprocessing</a:t>
            </a:r>
          </a:p>
          <a:p>
            <a:r>
              <a:rPr lang="en-US" dirty="0"/>
              <a:t>        ↓</a:t>
            </a:r>
          </a:p>
          <a:p>
            <a:r>
              <a:rPr lang="en-US" dirty="0" smtClean="0"/>
              <a:t>3. Feature </a:t>
            </a:r>
            <a:r>
              <a:rPr lang="en-US" dirty="0"/>
              <a:t>Engineering</a:t>
            </a:r>
          </a:p>
          <a:p>
            <a:r>
              <a:rPr lang="en-US" dirty="0"/>
              <a:t>        ↓</a:t>
            </a:r>
          </a:p>
          <a:p>
            <a:r>
              <a:rPr lang="en-US" dirty="0" smtClean="0"/>
              <a:t>4. Exploratory </a:t>
            </a:r>
            <a:r>
              <a:rPr lang="en-US" dirty="0"/>
              <a:t>Data </a:t>
            </a:r>
            <a:r>
              <a:rPr lang="en-US" dirty="0" smtClean="0"/>
              <a:t>Analysis</a:t>
            </a:r>
            <a:endParaRPr lang="en-US" dirty="0"/>
          </a:p>
          <a:p>
            <a:r>
              <a:rPr lang="en-US" dirty="0"/>
              <a:t>        ↓</a:t>
            </a:r>
          </a:p>
          <a:p>
            <a:r>
              <a:rPr lang="en-US" dirty="0" smtClean="0"/>
              <a:t>5. Model </a:t>
            </a:r>
            <a:r>
              <a:rPr lang="en-US" dirty="0"/>
              <a:t>Development</a:t>
            </a:r>
          </a:p>
          <a:p>
            <a:r>
              <a:rPr lang="en-US" dirty="0"/>
              <a:t>        ↓</a:t>
            </a:r>
          </a:p>
          <a:p>
            <a:r>
              <a:rPr lang="en-US" dirty="0" smtClean="0"/>
              <a:t>6. Model </a:t>
            </a:r>
            <a:r>
              <a:rPr lang="en-US" dirty="0"/>
              <a:t>Evaluation</a:t>
            </a:r>
          </a:p>
          <a:p>
            <a:r>
              <a:rPr lang="en-US" dirty="0"/>
              <a:t>        ↓</a:t>
            </a:r>
          </a:p>
          <a:p>
            <a:r>
              <a:rPr lang="en-US" dirty="0" smtClean="0"/>
              <a:t>7. Feature </a:t>
            </a:r>
            <a:r>
              <a:rPr lang="en-US" dirty="0"/>
              <a:t>Importance Analysis</a:t>
            </a:r>
          </a:p>
          <a:p>
            <a:r>
              <a:rPr lang="en-US" dirty="0"/>
              <a:t>        ↓</a:t>
            </a:r>
          </a:p>
          <a:p>
            <a:r>
              <a:rPr lang="en-US" dirty="0" smtClean="0"/>
              <a:t>8. Business </a:t>
            </a:r>
            <a:r>
              <a:rPr lang="en-US" dirty="0"/>
              <a:t>Recommendations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23528" y="3870340"/>
            <a:ext cx="4572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Dataset </a:t>
            </a:r>
            <a:r>
              <a:rPr lang="en-IN" b="1" dirty="0" smtClean="0"/>
              <a:t>Overview</a:t>
            </a:r>
          </a:p>
          <a:p>
            <a:endParaRPr lang="en-IN" b="1" dirty="0"/>
          </a:p>
          <a:p>
            <a:pPr>
              <a:lnSpc>
                <a:spcPct val="150000"/>
              </a:lnSpc>
            </a:pPr>
            <a:r>
              <a:rPr lang="en-IN" sz="1600" b="1" dirty="0"/>
              <a:t>Dataset </a:t>
            </a:r>
            <a:r>
              <a:rPr lang="en-IN" sz="1600" b="1" dirty="0" smtClean="0"/>
              <a:t>Size       :</a:t>
            </a:r>
            <a:r>
              <a:rPr lang="en-IN" sz="1600" dirty="0" smtClean="0"/>
              <a:t>  531 </a:t>
            </a:r>
            <a:r>
              <a:rPr lang="en-IN" sz="1600" dirty="0"/>
              <a:t>Smartphone Records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Target </a:t>
            </a:r>
            <a:r>
              <a:rPr lang="en-IN" sz="1600" b="1" dirty="0" smtClean="0"/>
              <a:t>Variable  : </a:t>
            </a:r>
            <a:r>
              <a:rPr lang="en-IN" sz="1600" dirty="0" smtClean="0"/>
              <a:t> Prize  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b="1" dirty="0"/>
              <a:t>Input </a:t>
            </a:r>
            <a:r>
              <a:rPr lang="en-IN" sz="1600" b="1" dirty="0" smtClean="0"/>
              <a:t>Features   : </a:t>
            </a:r>
            <a:r>
              <a:rPr lang="en-IN" sz="1600" dirty="0" smtClean="0"/>
              <a:t> </a:t>
            </a:r>
            <a:r>
              <a:rPr lang="en-IN" sz="1600" dirty="0"/>
              <a:t>14 Selected Features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Models </a:t>
            </a:r>
            <a:r>
              <a:rPr lang="en-IN" sz="1600" b="1" dirty="0" smtClean="0"/>
              <a:t>Used      :</a:t>
            </a:r>
            <a:r>
              <a:rPr lang="en-IN" sz="1600" dirty="0" smtClean="0"/>
              <a:t> </a:t>
            </a:r>
            <a:r>
              <a:rPr lang="en-IN" sz="1600" dirty="0"/>
              <a:t>Linear Regression &amp; </a:t>
            </a:r>
            <a:endParaRPr lang="en-IN" sz="1600" dirty="0" smtClean="0"/>
          </a:p>
          <a:p>
            <a:pPr>
              <a:lnSpc>
                <a:spcPct val="150000"/>
              </a:lnSpc>
            </a:pPr>
            <a:r>
              <a:rPr lang="en-IN" sz="1600" dirty="0"/>
              <a:t> </a:t>
            </a:r>
            <a:r>
              <a:rPr lang="en-IN" sz="1600" dirty="0" smtClean="0"/>
              <a:t>                               Random Forest </a:t>
            </a:r>
            <a:r>
              <a:rPr lang="en-IN" sz="1600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165771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1" y="661256"/>
            <a:ext cx="8514387" cy="942696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Business Problem &amp; Project Objectives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23528" y="1484784"/>
            <a:ext cx="8640960" cy="5040560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7200" b="1" dirty="0" smtClean="0"/>
              <a:t>Business Problem  </a:t>
            </a:r>
          </a:p>
          <a:p>
            <a:pPr>
              <a:lnSpc>
                <a:spcPct val="170000"/>
              </a:lnSpc>
            </a:pPr>
            <a:r>
              <a:rPr lang="en-US" sz="6400" dirty="0" smtClean="0"/>
              <a:t>Smartphone </a:t>
            </a:r>
            <a:r>
              <a:rPr lang="en-US" sz="6400" dirty="0"/>
              <a:t>prices depend on multiple hardware and software features.</a:t>
            </a:r>
            <a:endParaRPr lang="en-US" sz="6400" dirty="0" smtClean="0"/>
          </a:p>
          <a:p>
            <a:pPr>
              <a:lnSpc>
                <a:spcPct val="170000"/>
              </a:lnSpc>
            </a:pPr>
            <a:r>
              <a:rPr lang="en-US" sz="6400" dirty="0" smtClean="0"/>
              <a:t> Manually estimating the correct price is difficult because many features interact simultaneously. </a:t>
            </a:r>
          </a:p>
          <a:p>
            <a:pPr>
              <a:lnSpc>
                <a:spcPct val="170000"/>
              </a:lnSpc>
            </a:pPr>
            <a:r>
              <a:rPr lang="en-US" sz="6400" dirty="0" smtClean="0"/>
              <a:t>Data-driven </a:t>
            </a:r>
            <a:r>
              <a:rPr lang="en-US" sz="6400" dirty="0"/>
              <a:t>price prediction improves pricing decisions and market competitiveness.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7200" b="1" dirty="0" smtClean="0"/>
              <a:t>Project </a:t>
            </a:r>
            <a:r>
              <a:rPr lang="en-US" sz="7200" b="1" dirty="0"/>
              <a:t>Objectives</a:t>
            </a:r>
          </a:p>
          <a:p>
            <a:pPr>
              <a:lnSpc>
                <a:spcPct val="170000"/>
              </a:lnSpc>
            </a:pPr>
            <a:r>
              <a:rPr lang="en-US" sz="6400" dirty="0"/>
              <a:t>Predict smartphone prices using </a:t>
            </a:r>
            <a:r>
              <a:rPr lang="en-US" sz="6400" b="1" dirty="0"/>
              <a:t>Machine Learning</a:t>
            </a:r>
            <a:r>
              <a:rPr lang="en-US" sz="6400" dirty="0" smtClean="0"/>
              <a:t>.</a:t>
            </a:r>
          </a:p>
          <a:p>
            <a:pPr>
              <a:lnSpc>
                <a:spcPct val="170000"/>
              </a:lnSpc>
            </a:pPr>
            <a:r>
              <a:rPr lang="en-US" sz="6400" dirty="0" smtClean="0"/>
              <a:t> </a:t>
            </a:r>
            <a:r>
              <a:rPr lang="en-US" sz="6400" dirty="0"/>
              <a:t>Identify the most influential features</a:t>
            </a:r>
            <a:r>
              <a:rPr lang="en-US" sz="6400" dirty="0" smtClean="0"/>
              <a:t>.</a:t>
            </a:r>
          </a:p>
          <a:p>
            <a:pPr>
              <a:lnSpc>
                <a:spcPct val="170000"/>
              </a:lnSpc>
            </a:pPr>
            <a:r>
              <a:rPr lang="en-US" sz="6400" dirty="0" smtClean="0"/>
              <a:t> </a:t>
            </a:r>
            <a:r>
              <a:rPr lang="en-US" sz="6400" dirty="0"/>
              <a:t>Compare </a:t>
            </a:r>
            <a:r>
              <a:rPr lang="en-US" sz="6400" b="1" dirty="0"/>
              <a:t>Linear Regression </a:t>
            </a:r>
            <a:r>
              <a:rPr lang="en-US" sz="6400" dirty="0"/>
              <a:t>and </a:t>
            </a:r>
            <a:r>
              <a:rPr lang="en-US" sz="6400" b="1" dirty="0"/>
              <a:t>Random Forest</a:t>
            </a:r>
            <a:r>
              <a:rPr lang="en-US" sz="6400" dirty="0" smtClean="0"/>
              <a:t>.</a:t>
            </a:r>
          </a:p>
          <a:p>
            <a:pPr>
              <a:lnSpc>
                <a:spcPct val="170000"/>
              </a:lnSpc>
            </a:pPr>
            <a:r>
              <a:rPr lang="en-US" sz="6400" dirty="0" smtClean="0"/>
              <a:t> </a:t>
            </a:r>
            <a:r>
              <a:rPr lang="en-US" sz="6400" dirty="0"/>
              <a:t>Evaluate </a:t>
            </a:r>
            <a:r>
              <a:rPr lang="en-US" sz="6400" b="1" dirty="0"/>
              <a:t>model performance</a:t>
            </a:r>
            <a:r>
              <a:rPr lang="en-US" sz="6400" dirty="0"/>
              <a:t>. </a:t>
            </a:r>
            <a:endParaRPr lang="en-US" sz="6400" dirty="0" smtClean="0"/>
          </a:p>
          <a:p>
            <a:pPr>
              <a:lnSpc>
                <a:spcPct val="170000"/>
              </a:lnSpc>
            </a:pPr>
            <a:r>
              <a:rPr lang="en-US" sz="6400" dirty="0" smtClean="0"/>
              <a:t>Generate </a:t>
            </a:r>
            <a:r>
              <a:rPr lang="en-US" sz="6400" b="1" dirty="0"/>
              <a:t>business recommendations</a:t>
            </a:r>
            <a:r>
              <a:rPr lang="en-US" sz="6400" b="1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algn="ctr"/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652120" y="292494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455163" y="3501007"/>
            <a:ext cx="324036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Expected Business Impact</a:t>
            </a:r>
          </a:p>
          <a:p>
            <a:pPr marL="285750" indent="-285750">
              <a:lnSpc>
                <a:spcPct val="170000"/>
              </a:lnSpc>
              <a:buFont typeface="Arial" pitchFamily="34" charset="0"/>
              <a:buChar char="•"/>
            </a:pPr>
            <a:r>
              <a:rPr lang="en-US" dirty="0"/>
              <a:t>Improve pricing decisions.</a:t>
            </a:r>
          </a:p>
          <a:p>
            <a:pPr marL="285750" indent="-285750">
              <a:lnSpc>
                <a:spcPct val="170000"/>
              </a:lnSpc>
              <a:buFont typeface="Arial" pitchFamily="34" charset="0"/>
              <a:buChar char="•"/>
            </a:pPr>
            <a:r>
              <a:rPr lang="en-US" dirty="0" smtClean="0"/>
              <a:t>Support </a:t>
            </a:r>
            <a:r>
              <a:rPr lang="en-US" dirty="0"/>
              <a:t>product positioning.</a:t>
            </a:r>
          </a:p>
          <a:p>
            <a:pPr marL="285750" indent="-285750">
              <a:lnSpc>
                <a:spcPct val="170000"/>
              </a:lnSpc>
              <a:buFont typeface="Arial" pitchFamily="34" charset="0"/>
              <a:buChar char="•"/>
            </a:pPr>
            <a:r>
              <a:rPr lang="en-US" dirty="0" smtClean="0"/>
              <a:t>Identify </a:t>
            </a:r>
            <a:r>
              <a:rPr lang="en-US" dirty="0"/>
              <a:t>high-value features. </a:t>
            </a:r>
          </a:p>
          <a:p>
            <a:pPr marL="285750" indent="-285750">
              <a:lnSpc>
                <a:spcPct val="170000"/>
              </a:lnSpc>
              <a:buFont typeface="Arial" pitchFamily="34" charset="0"/>
              <a:buChar char="•"/>
            </a:pPr>
            <a:r>
              <a:rPr lang="en-US" dirty="0"/>
              <a:t>Enable better future pricing.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0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1256"/>
            <a:ext cx="8507288" cy="895536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Dataset Summary</a:t>
            </a:r>
          </a:p>
          <a:p>
            <a:r>
              <a:rPr lang="en-IN" sz="1600" b="1" dirty="0"/>
              <a:t>Dataset </a:t>
            </a:r>
            <a:r>
              <a:rPr lang="en-IN" sz="1600" b="1" dirty="0" smtClean="0"/>
              <a:t>Name  :</a:t>
            </a:r>
            <a:r>
              <a:rPr lang="en-IN" sz="1600" dirty="0" smtClean="0"/>
              <a:t> </a:t>
            </a:r>
            <a:r>
              <a:rPr lang="en-IN" sz="1600" dirty="0"/>
              <a:t>Mobile Phones Dataset </a:t>
            </a:r>
          </a:p>
          <a:p>
            <a:r>
              <a:rPr lang="en-IN" sz="1600" b="1" dirty="0"/>
              <a:t>Total </a:t>
            </a:r>
            <a:r>
              <a:rPr lang="en-IN" sz="1600" b="1" dirty="0" smtClean="0"/>
              <a:t>Records    :</a:t>
            </a:r>
            <a:r>
              <a:rPr lang="en-IN" sz="1600" dirty="0" smtClean="0"/>
              <a:t> </a:t>
            </a:r>
            <a:r>
              <a:rPr lang="en-IN" sz="1600" b="1" dirty="0"/>
              <a:t>531 Smartphones</a:t>
            </a:r>
            <a:r>
              <a:rPr lang="en-IN" sz="1600" dirty="0"/>
              <a:t> </a:t>
            </a:r>
          </a:p>
          <a:p>
            <a:r>
              <a:rPr lang="en-IN" sz="1600" b="1" dirty="0"/>
              <a:t>Input </a:t>
            </a:r>
            <a:r>
              <a:rPr lang="en-IN" sz="1600" b="1" dirty="0" smtClean="0"/>
              <a:t>Features  :</a:t>
            </a:r>
            <a:r>
              <a:rPr lang="en-IN" sz="1600" dirty="0" smtClean="0"/>
              <a:t> </a:t>
            </a:r>
            <a:r>
              <a:rPr lang="en-IN" sz="1600" b="1" dirty="0"/>
              <a:t>14 Selected Features</a:t>
            </a:r>
            <a:r>
              <a:rPr lang="en-IN" sz="1600" dirty="0"/>
              <a:t> </a:t>
            </a:r>
          </a:p>
          <a:p>
            <a:r>
              <a:rPr lang="en-IN" sz="1600" b="1" dirty="0"/>
              <a:t>Target </a:t>
            </a:r>
            <a:r>
              <a:rPr lang="en-IN" sz="1600" b="1" dirty="0" smtClean="0"/>
              <a:t>Variable :</a:t>
            </a:r>
            <a:r>
              <a:rPr lang="en-IN" sz="1600" dirty="0" smtClean="0"/>
              <a:t> </a:t>
            </a:r>
            <a:r>
              <a:rPr lang="en-IN" sz="1600" b="1" dirty="0" smtClean="0"/>
              <a:t>Prize </a:t>
            </a:r>
            <a:r>
              <a:rPr lang="en-IN" sz="1600" dirty="0" smtClean="0"/>
              <a:t> </a:t>
            </a:r>
            <a:endParaRPr lang="en-IN" sz="1600" dirty="0"/>
          </a:p>
          <a:p>
            <a:r>
              <a:rPr lang="en-IN" sz="1600" b="1" dirty="0"/>
              <a:t>Machine Learning </a:t>
            </a:r>
            <a:r>
              <a:rPr lang="en-IN" sz="1600" b="1" dirty="0" smtClean="0"/>
              <a:t>Task :</a:t>
            </a:r>
            <a:r>
              <a:rPr lang="en-IN" sz="1600" dirty="0" smtClean="0"/>
              <a:t> </a:t>
            </a:r>
            <a:r>
              <a:rPr lang="en-IN" sz="1600" b="1" dirty="0"/>
              <a:t>Regression</a:t>
            </a:r>
            <a:r>
              <a:rPr lang="en-IN" sz="1600" dirty="0"/>
              <a:t> </a:t>
            </a:r>
          </a:p>
          <a:p>
            <a:r>
              <a:rPr lang="en-IN" sz="1600" b="1" dirty="0"/>
              <a:t>Dataset </a:t>
            </a:r>
            <a:r>
              <a:rPr lang="en-IN" sz="1600" b="1" dirty="0" smtClean="0"/>
              <a:t>Purpose :</a:t>
            </a:r>
            <a:r>
              <a:rPr lang="en-IN" sz="1600" dirty="0" smtClean="0"/>
              <a:t> </a:t>
            </a:r>
            <a:r>
              <a:rPr lang="en-US" sz="1600" dirty="0"/>
              <a:t>Build a machine learning model to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                                  predict </a:t>
            </a:r>
            <a:r>
              <a:rPr lang="en-US" sz="1600" dirty="0"/>
              <a:t>smartphone prices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800" b="1" dirty="0" smtClean="0"/>
              <a:t>Prediction </a:t>
            </a:r>
            <a:r>
              <a:rPr lang="en-US" sz="1800" b="1" dirty="0"/>
              <a:t>Target</a:t>
            </a:r>
          </a:p>
          <a:p>
            <a:pPr marL="0" indent="0">
              <a:buNone/>
            </a:pPr>
            <a:r>
              <a:rPr lang="en-US" sz="1600" b="1" dirty="0"/>
              <a:t>Target </a:t>
            </a:r>
            <a:r>
              <a:rPr lang="en-US" sz="1600" b="1" dirty="0" smtClean="0"/>
              <a:t>Variable :</a:t>
            </a:r>
            <a:r>
              <a:rPr lang="en-US" sz="1600" dirty="0" smtClean="0"/>
              <a:t> </a:t>
            </a:r>
            <a:r>
              <a:rPr lang="en-US" sz="1600" b="1" dirty="0" smtClean="0"/>
              <a:t>Prize 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model learns the relationship between </a:t>
            </a:r>
            <a:r>
              <a:rPr lang="en-US" sz="1600" dirty="0" smtClean="0"/>
              <a:t>smartphone</a:t>
            </a:r>
          </a:p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1600" dirty="0"/>
              <a:t>specifications and price to predict prices for new smartphones.</a:t>
            </a:r>
            <a:endParaRPr lang="en-IN" sz="1600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940152" y="1556791"/>
            <a:ext cx="252028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 Categories</a:t>
            </a:r>
          </a:p>
          <a:p>
            <a:r>
              <a:rPr lang="en-IN" sz="1600" b="1" dirty="0" smtClean="0"/>
              <a:t>Device </a:t>
            </a:r>
            <a:r>
              <a:rPr lang="en-IN" sz="1600" b="1" dirty="0"/>
              <a:t>Information</a:t>
            </a:r>
          </a:p>
          <a:p>
            <a:r>
              <a:rPr lang="en-IN" sz="1600" dirty="0"/>
              <a:t>Brand </a:t>
            </a:r>
          </a:p>
          <a:p>
            <a:r>
              <a:rPr lang="en-IN" sz="1600" dirty="0"/>
              <a:t>Model </a:t>
            </a:r>
          </a:p>
          <a:p>
            <a:r>
              <a:rPr lang="en-IN" sz="1600" dirty="0"/>
              <a:t>Colour </a:t>
            </a:r>
          </a:p>
          <a:p>
            <a:r>
              <a:rPr lang="en-IN" sz="1600" b="1" dirty="0" smtClean="0"/>
              <a:t>Hardware </a:t>
            </a:r>
            <a:r>
              <a:rPr lang="en-IN" sz="1600" b="1" dirty="0"/>
              <a:t>Specifications</a:t>
            </a:r>
          </a:p>
          <a:p>
            <a:r>
              <a:rPr lang="en-IN" sz="1600" dirty="0"/>
              <a:t>RAM </a:t>
            </a:r>
          </a:p>
          <a:p>
            <a:r>
              <a:rPr lang="en-IN" sz="1600" dirty="0"/>
              <a:t>Memory </a:t>
            </a:r>
          </a:p>
          <a:p>
            <a:r>
              <a:rPr lang="en-IN" sz="1600" dirty="0"/>
              <a:t>Processor </a:t>
            </a:r>
          </a:p>
          <a:p>
            <a:r>
              <a:rPr lang="en-IN" sz="1600" dirty="0"/>
              <a:t>Battery Capacity </a:t>
            </a:r>
          </a:p>
          <a:p>
            <a:r>
              <a:rPr lang="en-IN" sz="1600" dirty="0"/>
              <a:t>Mobile Height </a:t>
            </a:r>
          </a:p>
          <a:p>
            <a:r>
              <a:rPr lang="en-IN" sz="1600" b="1" dirty="0" smtClean="0"/>
              <a:t>Camera </a:t>
            </a:r>
            <a:r>
              <a:rPr lang="en-IN" sz="1600" b="1" dirty="0"/>
              <a:t>Features</a:t>
            </a:r>
          </a:p>
          <a:p>
            <a:r>
              <a:rPr lang="en-IN" sz="1600" dirty="0"/>
              <a:t>Front Camera </a:t>
            </a:r>
          </a:p>
          <a:p>
            <a:r>
              <a:rPr lang="en-IN" sz="1600" dirty="0"/>
              <a:t>Rear Camera </a:t>
            </a:r>
          </a:p>
          <a:p>
            <a:r>
              <a:rPr lang="en-IN" sz="1600" dirty="0"/>
              <a:t>Total Camera MP </a:t>
            </a:r>
          </a:p>
          <a:p>
            <a:r>
              <a:rPr lang="en-IN" sz="1600" dirty="0"/>
              <a:t>AI Lens </a:t>
            </a:r>
          </a:p>
          <a:p>
            <a:r>
              <a:rPr lang="en-IN" sz="1600" b="1" dirty="0" smtClean="0"/>
              <a:t>Engineered </a:t>
            </a:r>
            <a:r>
              <a:rPr lang="en-IN" sz="1600" b="1" dirty="0"/>
              <a:t>Features</a:t>
            </a:r>
          </a:p>
          <a:p>
            <a:r>
              <a:rPr lang="en-IN" sz="1600" dirty="0"/>
              <a:t>Battery Category </a:t>
            </a:r>
          </a:p>
          <a:p>
            <a:r>
              <a:rPr lang="en-IN" sz="1600" dirty="0"/>
              <a:t>Colour Category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66802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61256"/>
            <a:ext cx="8586395" cy="84411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Data Preprocessing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00200"/>
            <a:ext cx="8075240" cy="506916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300" b="1" dirty="0"/>
              <a:t>Data Preprocessing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Removed duplicate records.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Checked missing values.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Encoded categorical features.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Prepared data for modeling.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300" b="1" dirty="0"/>
              <a:t>Feature Engineering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Created </a:t>
            </a:r>
            <a:r>
              <a:rPr lang="en-US" sz="2100" b="1" dirty="0"/>
              <a:t>Battery Category</a:t>
            </a:r>
            <a:r>
              <a:rPr lang="en-US" sz="21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Created </a:t>
            </a:r>
            <a:r>
              <a:rPr lang="en-US" sz="2100" b="1" dirty="0" smtClean="0"/>
              <a:t>Color </a:t>
            </a:r>
            <a:r>
              <a:rPr lang="en-US" sz="2100" b="1" dirty="0"/>
              <a:t>Category</a:t>
            </a:r>
            <a:r>
              <a:rPr lang="en-US" sz="21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Created </a:t>
            </a:r>
            <a:r>
              <a:rPr lang="en-US" sz="2100" b="1" dirty="0"/>
              <a:t>Total Camera MP</a:t>
            </a:r>
            <a:r>
              <a:rPr lang="en-US" sz="210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300" b="1" dirty="0"/>
              <a:t>Final Dataset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531 Smartphone Records</a:t>
            </a:r>
            <a:r>
              <a:rPr lang="en-US" sz="21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14 Input Features</a:t>
            </a:r>
            <a:r>
              <a:rPr lang="en-US" sz="21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Target:</a:t>
            </a:r>
            <a:r>
              <a:rPr lang="en-US" sz="2100" dirty="0"/>
              <a:t> </a:t>
            </a:r>
            <a:r>
              <a:rPr lang="en-US" sz="2100" dirty="0" smtClean="0"/>
              <a:t>Prize </a:t>
            </a:r>
            <a:r>
              <a:rPr lang="en-US" sz="2100" dirty="0"/>
              <a:t>(₹)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652120" y="1844823"/>
            <a:ext cx="28083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Preprocessing Workflow :</a:t>
            </a:r>
            <a:endParaRPr lang="en-IN" b="1" dirty="0" smtClean="0"/>
          </a:p>
          <a:p>
            <a:endParaRPr lang="en-IN" dirty="0"/>
          </a:p>
          <a:p>
            <a:r>
              <a:rPr lang="en-IN" dirty="0"/>
              <a:t>Raw Dataset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Duplicate Check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Missing Value Check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Categorical Encoding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Final Dataset</a:t>
            </a:r>
          </a:p>
        </p:txBody>
      </p:sp>
    </p:spTree>
    <p:extLst>
      <p:ext uri="{BB962C8B-B14F-4D97-AF65-F5344CB8AC3E}">
        <p14:creationId xmlns:p14="http://schemas.microsoft.com/office/powerpoint/2010/main" val="335014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1256"/>
            <a:ext cx="8373616" cy="67951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11" y="1412776"/>
            <a:ext cx="8784976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Purpose of EDA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Understand smartphone data characteristics.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Explore feature distributions.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Identify relationships among variables.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Detect outliers and unusual observations.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Prepare insights for machine learning. </a:t>
            </a:r>
          </a:p>
          <a:p>
            <a:pPr marL="0" indent="0">
              <a:buNone/>
            </a:pPr>
            <a:r>
              <a:rPr lang="en-US" sz="2100" b="1" dirty="0" smtClean="0"/>
              <a:t>Key </a:t>
            </a:r>
            <a:r>
              <a:rPr lang="en-US" sz="2100" b="1" dirty="0"/>
              <a:t>Outcome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EDA revealed important patterns in smartphone specifications and helped identify the most influential features for accurate price prediction.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364088" y="1476670"/>
            <a:ext cx="345942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Analysis Performed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Distribution Analysis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Outlier Detection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Correlation Analysis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Feature Relationship Analysis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7088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006" y="661256"/>
            <a:ext cx="8445794" cy="7563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507288" cy="4641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Key Observations</a:t>
            </a:r>
            <a:endParaRPr lang="en-US" sz="1800" dirty="0"/>
          </a:p>
          <a:p>
            <a:r>
              <a:rPr lang="en-US" sz="1800" dirty="0"/>
              <a:t>Most smartphone prices are concentrated in the </a:t>
            </a:r>
            <a:r>
              <a:rPr lang="en-US" sz="1800" b="1" dirty="0"/>
              <a:t>lower price range</a:t>
            </a:r>
            <a:r>
              <a:rPr lang="en-US" sz="1800" dirty="0"/>
              <a:t>. </a:t>
            </a:r>
          </a:p>
          <a:p>
            <a:r>
              <a:rPr lang="en-US" sz="1800" dirty="0"/>
              <a:t>A few premium smartphones appear as </a:t>
            </a:r>
            <a:r>
              <a:rPr lang="en-US" sz="1800" b="1" dirty="0"/>
              <a:t>outliers</a:t>
            </a:r>
            <a:r>
              <a:rPr lang="en-US" sz="1800" dirty="0"/>
              <a:t>. </a:t>
            </a:r>
          </a:p>
          <a:p>
            <a:r>
              <a:rPr lang="en-US" sz="1800" dirty="0"/>
              <a:t>Price distribution is </a:t>
            </a:r>
            <a:r>
              <a:rPr lang="en-US" sz="1800" b="1" dirty="0"/>
              <a:t>positively skewed</a:t>
            </a:r>
            <a:r>
              <a:rPr lang="en-US" sz="1800" dirty="0"/>
              <a:t>. </a:t>
            </a:r>
          </a:p>
          <a:p>
            <a:r>
              <a:rPr lang="en-US" sz="1800" dirty="0"/>
              <a:t>These insights guided </a:t>
            </a:r>
            <a:r>
              <a:rPr lang="en-US" sz="1800" b="1" dirty="0"/>
              <a:t>model development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9" b="1"/>
          <a:stretch/>
        </p:blipFill>
        <p:spPr>
          <a:xfrm>
            <a:off x="4644008" y="3501008"/>
            <a:ext cx="4300665" cy="3027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06" y="3501008"/>
            <a:ext cx="419096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9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661256"/>
            <a:ext cx="8363272" cy="7563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Bivariate Analysis &amp;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Objective</a:t>
            </a:r>
          </a:p>
          <a:p>
            <a:r>
              <a:rPr lang="en-US" sz="1600" dirty="0"/>
              <a:t>Analyze relationships between smartphone features and price. </a:t>
            </a:r>
          </a:p>
          <a:p>
            <a:r>
              <a:rPr lang="en-US" sz="1600" dirty="0"/>
              <a:t>Identify the features most strongly associated with pricing. </a:t>
            </a:r>
          </a:p>
          <a:p>
            <a:pPr marL="0" indent="0">
              <a:buNone/>
            </a:pPr>
            <a:r>
              <a:rPr lang="en-US" sz="1800" b="1" dirty="0"/>
              <a:t>Key Observations</a:t>
            </a:r>
          </a:p>
          <a:p>
            <a:r>
              <a:rPr lang="en-US" sz="1600" dirty="0"/>
              <a:t>Higher </a:t>
            </a:r>
            <a:r>
              <a:rPr lang="en-US" sz="1600" b="1" dirty="0"/>
              <a:t>RAM</a:t>
            </a:r>
            <a:r>
              <a:rPr lang="en-US" sz="1600" dirty="0"/>
              <a:t> and </a:t>
            </a:r>
            <a:r>
              <a:rPr lang="en-US" sz="1600" b="1" dirty="0"/>
              <a:t>Memory</a:t>
            </a:r>
            <a:r>
              <a:rPr lang="en-US" sz="1600" dirty="0"/>
              <a:t> are generally associated with higher smartphone prices. </a:t>
            </a:r>
            <a:endParaRPr lang="en-US" sz="1600" dirty="0" smtClean="0"/>
          </a:p>
          <a:p>
            <a:r>
              <a:rPr lang="en-US" sz="1600" b="1" dirty="0" smtClean="0"/>
              <a:t>Camera </a:t>
            </a:r>
            <a:r>
              <a:rPr lang="en-US" sz="1600" b="1" dirty="0"/>
              <a:t>specifications</a:t>
            </a:r>
            <a:r>
              <a:rPr lang="en-US" sz="1600" dirty="0"/>
              <a:t> show a positive relationship with price. </a:t>
            </a:r>
            <a:endParaRPr lang="en-US" sz="1600" dirty="0" smtClean="0"/>
          </a:p>
          <a:p>
            <a:r>
              <a:rPr lang="en-US" sz="1600" dirty="0" smtClean="0"/>
              <a:t>The </a:t>
            </a:r>
            <a:r>
              <a:rPr lang="en-US" sz="1600" b="1" dirty="0"/>
              <a:t>correlation heatmap</a:t>
            </a:r>
            <a:r>
              <a:rPr lang="en-US" sz="1600" dirty="0"/>
              <a:t> identifies the most influential features used for model development.</a:t>
            </a:r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76" y="3867740"/>
            <a:ext cx="4107499" cy="28016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843603"/>
            <a:ext cx="4320480" cy="288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9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412" y="661256"/>
            <a:ext cx="8910588" cy="756382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/>
              <a:t>Multivariate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84784"/>
            <a:ext cx="8496942" cy="4641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smtClean="0"/>
              <a:t>Objective</a:t>
            </a:r>
          </a:p>
          <a:p>
            <a:r>
              <a:rPr lang="en-US" sz="1700" dirty="0" smtClean="0"/>
              <a:t>Analyze </a:t>
            </a:r>
            <a:r>
              <a:rPr lang="en-US" sz="1700" dirty="0"/>
              <a:t>the combined effect of multiple features on smartphone price. </a:t>
            </a:r>
          </a:p>
          <a:p>
            <a:pPr marL="0" indent="0">
              <a:buNone/>
            </a:pPr>
            <a:r>
              <a:rPr lang="en-US" sz="1800" b="1" dirty="0"/>
              <a:t>Key Observations</a:t>
            </a:r>
          </a:p>
          <a:p>
            <a:r>
              <a:rPr lang="en-US" sz="1700" dirty="0"/>
              <a:t>Higher </a:t>
            </a:r>
            <a:r>
              <a:rPr lang="en-US" sz="1700" b="1" dirty="0"/>
              <a:t>RAM</a:t>
            </a:r>
            <a:r>
              <a:rPr lang="en-US" sz="1700" dirty="0"/>
              <a:t> and </a:t>
            </a:r>
            <a:r>
              <a:rPr lang="en-US" sz="1700" b="1" dirty="0"/>
              <a:t>Memory</a:t>
            </a:r>
            <a:r>
              <a:rPr lang="en-US" sz="1700" dirty="0"/>
              <a:t> are generally associated with higher prices. </a:t>
            </a:r>
          </a:p>
          <a:p>
            <a:r>
              <a:rPr lang="en-US" sz="1700" dirty="0"/>
              <a:t>Multiple features together improve price prediction. </a:t>
            </a:r>
          </a:p>
          <a:p>
            <a:r>
              <a:rPr lang="en-US" sz="1700" dirty="0"/>
              <a:t>Multivariate analysis supports feature selection for machine learning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004" y="3501008"/>
            <a:ext cx="4466475" cy="32212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12" y="3501008"/>
            <a:ext cx="4000305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56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61256"/>
            <a:ext cx="8435280" cy="7563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Machine Learning 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r>
              <a:rPr lang="en-US" sz="1800" b="1" dirty="0" smtClean="0"/>
              <a:t>Model </a:t>
            </a:r>
            <a:r>
              <a:rPr lang="en-US" sz="1800" b="1" dirty="0"/>
              <a:t>Building Process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Split the dataset into </a:t>
            </a:r>
            <a:r>
              <a:rPr lang="en-US" sz="1600" b="1" dirty="0"/>
              <a:t>80% Training</a:t>
            </a:r>
            <a:r>
              <a:rPr lang="en-US" sz="1600" dirty="0"/>
              <a:t> and </a:t>
            </a:r>
            <a:r>
              <a:rPr lang="en-US" sz="1600" b="1" dirty="0"/>
              <a:t>20% Testing</a:t>
            </a:r>
            <a:r>
              <a:rPr lang="en-US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Trained </a:t>
            </a:r>
            <a:r>
              <a:rPr lang="en-US" sz="1600" b="1" dirty="0"/>
              <a:t>Linear Regression</a:t>
            </a:r>
            <a:r>
              <a:rPr lang="en-US" sz="1600" dirty="0"/>
              <a:t> and </a:t>
            </a:r>
            <a:r>
              <a:rPr lang="en-US" sz="1600" b="1" dirty="0"/>
              <a:t>Random Forest Regression</a:t>
            </a:r>
            <a:r>
              <a:rPr lang="en-US" sz="1600" dirty="0"/>
              <a:t> models.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Learned pricing patterns from the training dataset.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Evaluated both models using unseen test data to measure </a:t>
            </a:r>
            <a:endParaRPr lang="en-US" sz="16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 prediction </a:t>
            </a:r>
            <a:r>
              <a:rPr lang="en-US" sz="1600" dirty="0"/>
              <a:t>accuracy.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Models </a:t>
            </a:r>
            <a:r>
              <a:rPr lang="en-IN" sz="1800" b="1" dirty="0" smtClean="0"/>
              <a:t>Implemented</a:t>
            </a:r>
          </a:p>
          <a:p>
            <a:r>
              <a:rPr lang="en-US" sz="1600" b="1" dirty="0" smtClean="0"/>
              <a:t>Linear </a:t>
            </a:r>
            <a:r>
              <a:rPr lang="en-US" sz="1600" b="1" dirty="0"/>
              <a:t>Regression</a:t>
            </a:r>
            <a:r>
              <a:rPr lang="en-US" sz="1600" dirty="0"/>
              <a:t> </a:t>
            </a:r>
            <a:r>
              <a:rPr lang="en-US" sz="1600" dirty="0" smtClean="0"/>
              <a:t>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	</a:t>
            </a:r>
            <a:r>
              <a:rPr lang="en-US" sz="1600" dirty="0" smtClean="0"/>
              <a:t> </a:t>
            </a:r>
            <a:r>
              <a:rPr lang="en-US" sz="1600" dirty="0"/>
              <a:t>Baseline model for price prediction</a:t>
            </a:r>
            <a:r>
              <a:rPr lang="en-US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 smtClean="0"/>
              <a:t>Random </a:t>
            </a:r>
            <a:r>
              <a:rPr lang="en-US" sz="1600" b="1" dirty="0"/>
              <a:t>Forest Regression</a:t>
            </a:r>
            <a:r>
              <a:rPr lang="en-US" sz="1600" dirty="0"/>
              <a:t> </a:t>
            </a:r>
            <a:r>
              <a:rPr lang="en-US" sz="1600" dirty="0" smtClean="0"/>
              <a:t>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	</a:t>
            </a:r>
            <a:r>
              <a:rPr lang="en-US" sz="1600" dirty="0" smtClean="0"/>
              <a:t> </a:t>
            </a:r>
            <a:r>
              <a:rPr lang="en-US" sz="1600" dirty="0"/>
              <a:t>Ensemble model that captures complex, non-linear relationships.</a:t>
            </a:r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6444208" y="1936864"/>
            <a:ext cx="23762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Workflow :</a:t>
            </a:r>
          </a:p>
          <a:p>
            <a:endParaRPr lang="en-IN" dirty="0"/>
          </a:p>
          <a:p>
            <a:r>
              <a:rPr lang="en-IN" dirty="0" smtClean="0"/>
              <a:t>Prepared </a:t>
            </a:r>
            <a:r>
              <a:rPr lang="en-IN" dirty="0"/>
              <a:t>Dataset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Train-Test Split</a:t>
            </a:r>
          </a:p>
          <a:p>
            <a:r>
              <a:rPr lang="en-IN" dirty="0"/>
              <a:t>   (80% / 20%)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Model Training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Price Prediction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Model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4208" y="1844824"/>
            <a:ext cx="2232248" cy="360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6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61256"/>
            <a:ext cx="8928992" cy="756382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Model Evaluation &amp; </a:t>
            </a:r>
            <a:r>
              <a:rPr lang="en-IN" sz="3600" b="1" dirty="0" smtClean="0"/>
              <a:t>Performance Comparison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28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Key </a:t>
            </a:r>
            <a:r>
              <a:rPr lang="en-IN" sz="1800" b="1" dirty="0" smtClean="0"/>
              <a:t>Findings </a:t>
            </a:r>
          </a:p>
          <a:p>
            <a:pPr>
              <a:lnSpc>
                <a:spcPct val="160000"/>
              </a:lnSpc>
            </a:pPr>
            <a:r>
              <a:rPr lang="en-US" sz="1600" b="1" dirty="0"/>
              <a:t>Random Forest </a:t>
            </a:r>
            <a:r>
              <a:rPr lang="en-US" sz="1600" dirty="0"/>
              <a:t>outperformed </a:t>
            </a:r>
            <a:r>
              <a:rPr lang="en-US" sz="1600" b="1" dirty="0"/>
              <a:t>Linear Regression </a:t>
            </a:r>
            <a:r>
              <a:rPr lang="en-US" sz="1600" dirty="0"/>
              <a:t>across all evaluation metrics. </a:t>
            </a:r>
            <a:endParaRPr lang="en-US" sz="1600" dirty="0" smtClean="0"/>
          </a:p>
          <a:p>
            <a:pPr>
              <a:lnSpc>
                <a:spcPct val="160000"/>
              </a:lnSpc>
            </a:pPr>
            <a:r>
              <a:rPr lang="en-US" sz="1600" b="1" dirty="0" smtClean="0"/>
              <a:t>MAE</a:t>
            </a:r>
            <a:r>
              <a:rPr lang="en-US" sz="1600" b="1" dirty="0"/>
              <a:t>, MSE</a:t>
            </a:r>
            <a:r>
              <a:rPr lang="en-US" sz="1600" dirty="0"/>
              <a:t>, and </a:t>
            </a:r>
            <a:r>
              <a:rPr lang="en-US" sz="1600" b="1" dirty="0"/>
              <a:t>RMSE </a:t>
            </a:r>
            <a:r>
              <a:rPr lang="en-US" sz="1600" dirty="0"/>
              <a:t>were significantly lower, indicating more accurate price predictions</a:t>
            </a:r>
            <a:r>
              <a:rPr lang="en-US" sz="1600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US" sz="1600" dirty="0" smtClean="0"/>
              <a:t> </a:t>
            </a:r>
            <a:r>
              <a:rPr lang="en-US" sz="1600" dirty="0"/>
              <a:t>The </a:t>
            </a:r>
            <a:r>
              <a:rPr lang="en-US" sz="1600" b="1" dirty="0"/>
              <a:t>R²</a:t>
            </a:r>
            <a:r>
              <a:rPr lang="en-US" sz="1600" dirty="0"/>
              <a:t> </a:t>
            </a:r>
            <a:r>
              <a:rPr lang="en-US" sz="1600" b="1" dirty="0"/>
              <a:t>Score</a:t>
            </a:r>
            <a:r>
              <a:rPr lang="en-US" sz="1600" dirty="0"/>
              <a:t> increased from 0.25 to 0.54, demonstrating better predictive performance. </a:t>
            </a:r>
            <a:endParaRPr lang="en-US" sz="1600" dirty="0" smtClean="0"/>
          </a:p>
          <a:p>
            <a:pPr>
              <a:lnSpc>
                <a:spcPct val="160000"/>
              </a:lnSpc>
            </a:pPr>
            <a:r>
              <a:rPr lang="en-US" sz="1600" b="1" dirty="0" smtClean="0"/>
              <a:t>Random </a:t>
            </a:r>
            <a:r>
              <a:rPr lang="en-US" sz="1600" b="1" dirty="0"/>
              <a:t>Forest </a:t>
            </a:r>
            <a:r>
              <a:rPr lang="en-US" sz="1600" dirty="0"/>
              <a:t>captured complex, non-linear relationships between smartphone features more effectively</a:t>
            </a:r>
            <a:r>
              <a:rPr lang="en-US" sz="1600" dirty="0" smtClean="0"/>
              <a:t>.</a:t>
            </a:r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pPr marL="0" indent="0">
              <a:buNone/>
            </a:pPr>
            <a:r>
              <a:rPr lang="en-US" sz="2000" b="1" dirty="0"/>
              <a:t>Conclusion</a:t>
            </a:r>
            <a:endParaRPr lang="en-US" sz="1800" b="1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/>
              <a:t>Random Forest Regression was selected as the final model because it achieved the highest prediction accuracy and the lowest prediction error among all evaluated models.</a:t>
            </a:r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429000"/>
            <a:ext cx="6017995" cy="1715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07905" y="5229200"/>
            <a:ext cx="3672407" cy="64807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Best Model Selected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Random Forest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072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1256"/>
            <a:ext cx="8856984" cy="756382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Feature Importance Analysis (Random Forest)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Objective</a:t>
            </a:r>
          </a:p>
          <a:p>
            <a:r>
              <a:rPr lang="en-US" sz="1600" dirty="0"/>
              <a:t>Identify the most influential features affecting smartphone prices. </a:t>
            </a:r>
          </a:p>
          <a:p>
            <a:pPr marL="0" indent="0">
              <a:buNone/>
            </a:pPr>
            <a:r>
              <a:rPr lang="en-US" sz="1800" b="1" dirty="0"/>
              <a:t>Key Findings</a:t>
            </a:r>
          </a:p>
          <a:p>
            <a:r>
              <a:rPr lang="en-US" sz="1600" b="1" dirty="0"/>
              <a:t>Front Camera</a:t>
            </a:r>
            <a:r>
              <a:rPr lang="en-US" sz="1600" dirty="0"/>
              <a:t> was the most influential feature. </a:t>
            </a:r>
          </a:p>
          <a:p>
            <a:r>
              <a:rPr lang="en-US" sz="1600" b="1" dirty="0"/>
              <a:t>Model</a:t>
            </a:r>
            <a:r>
              <a:rPr lang="en-US" sz="1600" dirty="0"/>
              <a:t> and </a:t>
            </a:r>
            <a:r>
              <a:rPr lang="en-US" sz="1600" b="1" dirty="0"/>
              <a:t>Brand</a:t>
            </a:r>
            <a:r>
              <a:rPr lang="en-US" sz="1600" dirty="0"/>
              <a:t> also had a significant impact. </a:t>
            </a:r>
          </a:p>
          <a:p>
            <a:r>
              <a:rPr lang="en-US" sz="1600" b="1" dirty="0"/>
              <a:t>Memory, Total Camera MP, Battery, and RAM</a:t>
            </a:r>
            <a:r>
              <a:rPr lang="en-US" sz="1600" dirty="0"/>
              <a:t> contributed moderately. </a:t>
            </a:r>
          </a:p>
          <a:p>
            <a:r>
              <a:rPr lang="en-US" sz="1600" b="1" dirty="0"/>
              <a:t>AI Lens</a:t>
            </a:r>
            <a:r>
              <a:rPr lang="en-US" sz="1600" dirty="0"/>
              <a:t> and </a:t>
            </a:r>
            <a:r>
              <a:rPr lang="en-US" sz="1600" b="1" dirty="0"/>
              <a:t>Battery Category</a:t>
            </a:r>
            <a:r>
              <a:rPr lang="en-US" sz="1600" dirty="0"/>
              <a:t> had minimal influence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pPr marL="0" indent="0">
              <a:buNone/>
            </a:pPr>
            <a:r>
              <a:rPr lang="en-US" sz="1800" b="1" dirty="0"/>
              <a:t>Business Insight</a:t>
            </a:r>
          </a:p>
          <a:p>
            <a:pPr marL="0" indent="0">
              <a:buNone/>
            </a:pPr>
            <a:r>
              <a:rPr lang="en-US" sz="1600" dirty="0"/>
              <a:t>Premium smartphone prices are mainly driven by </a:t>
            </a:r>
            <a:r>
              <a:rPr lang="en-US" sz="1600" b="1" dirty="0"/>
              <a:t>camera quality, brand reputation, and hardware specifications</a:t>
            </a:r>
            <a:r>
              <a:rPr lang="en-US" sz="1600" dirty="0"/>
              <a:t>.</a:t>
            </a:r>
          </a:p>
          <a:p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501008"/>
            <a:ext cx="6552728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17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1256"/>
            <a:ext cx="8784976" cy="7563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568952" cy="464137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Business Recommendations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Improve </a:t>
            </a:r>
            <a:r>
              <a:rPr lang="en-US" sz="1600" b="1" dirty="0"/>
              <a:t>camera quality</a:t>
            </a:r>
            <a:r>
              <a:rPr lang="en-US" sz="1600" dirty="0"/>
              <a:t> and </a:t>
            </a:r>
            <a:r>
              <a:rPr lang="en-US" sz="1600" b="1" dirty="0"/>
              <a:t>memory</a:t>
            </a:r>
            <a:r>
              <a:rPr lang="en-US" sz="1600" dirty="0"/>
              <a:t> for premium smartphones.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Optimize </a:t>
            </a:r>
            <a:r>
              <a:rPr lang="en-US" sz="1600" b="1" dirty="0"/>
              <a:t>RAM</a:t>
            </a:r>
            <a:r>
              <a:rPr lang="en-US" sz="1600" dirty="0"/>
              <a:t> and </a:t>
            </a:r>
            <a:r>
              <a:rPr lang="en-US" sz="1600" b="1" dirty="0"/>
              <a:t>battery capacity</a:t>
            </a:r>
            <a:r>
              <a:rPr lang="en-US" sz="1600" dirty="0"/>
              <a:t> to increase product value.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Use </a:t>
            </a:r>
            <a:r>
              <a:rPr lang="en-US" sz="1600" b="1" dirty="0"/>
              <a:t>machine learning</a:t>
            </a:r>
            <a:r>
              <a:rPr lang="en-US" sz="1600" dirty="0"/>
              <a:t> to support pricing decisions.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Update the model regularly with new smartphone data.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Business Benefits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More accurate pricing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Better product positioning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Data-driven decisions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Improved customer value</a:t>
            </a:r>
          </a:p>
          <a:p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796136" y="2924944"/>
            <a:ext cx="25922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Workflow :</a:t>
            </a:r>
          </a:p>
          <a:p>
            <a:endParaRPr lang="en-US" dirty="0"/>
          </a:p>
          <a:p>
            <a:r>
              <a:rPr lang="en-US" dirty="0" smtClean="0"/>
              <a:t>Feature </a:t>
            </a:r>
            <a:r>
              <a:rPr lang="en-US" dirty="0"/>
              <a:t>Analysis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Price Prediction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Business Insights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Pricing Strategy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Better Decision Making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724128" y="2852936"/>
            <a:ext cx="2520280" cy="321132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641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1256"/>
            <a:ext cx="8229600" cy="756382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Project Summary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Successfully developed a smartphone </a:t>
            </a:r>
            <a:r>
              <a:rPr lang="en-US" sz="1600" b="1" dirty="0"/>
              <a:t>price prediction model</a:t>
            </a:r>
            <a:r>
              <a:rPr lang="en-US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Performed </a:t>
            </a:r>
            <a:r>
              <a:rPr lang="en-US" sz="1600" b="1" dirty="0"/>
              <a:t>EDA, feature engineering, and model evaluation</a:t>
            </a:r>
            <a:r>
              <a:rPr lang="en-US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Compared </a:t>
            </a:r>
            <a:r>
              <a:rPr lang="en-US" sz="1600" b="1" dirty="0"/>
              <a:t>Linear Regression</a:t>
            </a:r>
            <a:r>
              <a:rPr lang="en-US" sz="1600" dirty="0"/>
              <a:t> and </a:t>
            </a:r>
            <a:r>
              <a:rPr lang="en-US" sz="1600" b="1" dirty="0"/>
              <a:t>Random Forest Regression</a:t>
            </a:r>
            <a:r>
              <a:rPr lang="en-US" sz="1600" dirty="0"/>
              <a:t>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Key Findings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Random Forest</a:t>
            </a:r>
            <a:r>
              <a:rPr lang="en-US" sz="1600" dirty="0"/>
              <a:t> achieved the best prediction performance. 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Camera, Brand, Memory, and RAM</a:t>
            </a:r>
            <a:r>
              <a:rPr lang="en-US" sz="1600" dirty="0"/>
              <a:t> were the most influential features.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Machine learning can support </a:t>
            </a:r>
            <a:r>
              <a:rPr lang="en-US" sz="1600" b="1" dirty="0"/>
              <a:t>accurate smartphone pricing</a:t>
            </a:r>
            <a:r>
              <a:rPr lang="en-US" sz="1600" dirty="0"/>
              <a:t>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Future Scope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Increase the dataset with newer smartphone models.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Test advanced machine learning algorithms (e.g., XGBoost).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Develop a real-time price prediction web application.</a:t>
            </a:r>
          </a:p>
          <a:p>
            <a:endParaRPr lang="en-IN" sz="16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231641" y="5949280"/>
            <a:ext cx="8496944" cy="64807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Final Model Selected: Random Forest Regression</a:t>
            </a:r>
            <a:r>
              <a:rPr lang="en-US" dirty="0"/>
              <a:t> ✅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459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        	    </a:t>
            </a:r>
          </a:p>
          <a:p>
            <a:pPr marL="0" indent="0">
              <a:buNone/>
            </a:pPr>
            <a:r>
              <a:rPr lang="en-IN" sz="4000" b="1" dirty="0"/>
              <a:t>	</a:t>
            </a:r>
            <a:r>
              <a:rPr lang="en-IN" sz="4000" b="1" dirty="0" smtClean="0"/>
              <a:t>	</a:t>
            </a:r>
            <a:r>
              <a:rPr lang="en-IN" sz="5400" b="1" dirty="0" smtClean="0"/>
              <a:t>THANK </a:t>
            </a:r>
            <a:r>
              <a:rPr lang="en-IN" sz="5400" b="1" dirty="0"/>
              <a:t>YOU!  </a:t>
            </a:r>
            <a:endParaRPr lang="en-IN" sz="5400" b="1" dirty="0" smtClean="0"/>
          </a:p>
          <a:p>
            <a:pPr marL="0" indent="0">
              <a:buNone/>
            </a:pPr>
            <a:r>
              <a:rPr lang="en-IN" sz="4000" b="1" dirty="0" smtClean="0"/>
              <a:t>                                                           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           	</a:t>
            </a:r>
            <a:r>
              <a:rPr lang="en-IN" b="1" dirty="0"/>
              <a:t> </a:t>
            </a:r>
            <a:r>
              <a:rPr lang="en-IN" b="1" dirty="0" smtClean="0"/>
              <a:t>    Bhawna </a:t>
            </a:r>
            <a:r>
              <a:rPr lang="en-IN" b="1" dirty="0"/>
              <a:t>Chouhan</a:t>
            </a:r>
            <a:r>
              <a:rPr lang="en-IN" dirty="0"/>
              <a:t>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   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</a:t>
            </a:r>
            <a:r>
              <a:rPr lang="en-IN" dirty="0"/>
              <a:t>Data Analytics Internship Project      </a:t>
            </a:r>
          </a:p>
          <a:p>
            <a:pPr marL="0" indent="0">
              <a:buNone/>
            </a:pPr>
            <a:r>
              <a:rPr lang="en-IN" dirty="0" smtClean="0"/>
              <a:t>                              NextHikes   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77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1040</Words>
  <Application>Microsoft Office PowerPoint</Application>
  <PresentationFormat>On-screen Show (4:3)</PresentationFormat>
  <Paragraphs>260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Feature Extraction and Price Prediction for Mobile Phones</vt:lpstr>
      <vt:lpstr>Project Overview</vt:lpstr>
      <vt:lpstr>Business Problem &amp; Project Objectives</vt:lpstr>
      <vt:lpstr>Dataset Understanding</vt:lpstr>
      <vt:lpstr>Data Preprocessing &amp; Feature Engineering</vt:lpstr>
      <vt:lpstr>Exploratory Data Analysis (EDA)</vt:lpstr>
      <vt:lpstr>Univariate Analysis</vt:lpstr>
      <vt:lpstr>Bivariate Analysis &amp; Correlation</vt:lpstr>
      <vt:lpstr>Multivariate Analysis</vt:lpstr>
      <vt:lpstr>Machine Learning Model Development</vt:lpstr>
      <vt:lpstr>Model Evaluation &amp; Performance Comparison</vt:lpstr>
      <vt:lpstr>Feature Importance Analysis (Random Forest)</vt:lpstr>
      <vt:lpstr>Business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125</cp:revision>
  <dcterms:created xsi:type="dcterms:W3CDTF">2026-06-03T09:30:33Z</dcterms:created>
  <dcterms:modified xsi:type="dcterms:W3CDTF">2026-07-04T11:45:02Z</dcterms:modified>
</cp:coreProperties>
</file>